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30E23-47F1-59E7-7D15-68F19EE55854}" v="18" dt="2026-08-25T15:23:36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94A18-DE27-4BC5-A0F8-632A6D50FFD7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99A3D-D116-4437-B782-B3515A0DEC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6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" y="1"/>
            <a:ext cx="1219202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37077" y="4256800"/>
            <a:ext cx="95372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33" tIns="102333" rIns="102333" bIns="10233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791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400" b="0">
                <a:solidFill>
                  <a:srgbClr val="1A73E8"/>
                </a:solidFill>
                <a:latin typeface="Manrope"/>
              </a:rPr>
              <a:t> NEXUS 360</a:t>
            </a:r>
            <a:endParaRPr sz="1791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37051" y="5666881"/>
            <a:ext cx="953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33" tIns="102333" rIns="102333" bIns="10233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GB" sz="1791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400" b="0">
                <a:solidFill>
                  <a:srgbClr val="1A73E8"/>
                </a:solidFill>
                <a:latin typeface="Manrope"/>
              </a:rPr>
              <a:t> Customer 360 &amp; Next Best Action for Insurance</a:t>
            </a:r>
            <a:endParaRPr sz="1791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7064" y="4712875"/>
            <a:ext cx="95372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33" tIns="102333" rIns="102333" bIns="10233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80000"/>
              </a:lnSpc>
              <a:buSzPts val="1343"/>
            </a:pPr>
            <a:r>
              <a:rPr lang="en-GB" sz="173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lang="en-GB" sz="1400">
                <a:solidFill>
                  <a:srgbClr val="1A73E8"/>
                </a:solidFill>
                <a:latin typeface="Manrope"/>
              </a:rPr>
              <a:t> Gowri Shankar </a:t>
            </a:r>
            <a:endParaRPr sz="1791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37051" y="5209681"/>
            <a:ext cx="953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33" tIns="102333" rIns="102333" bIns="10233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70000"/>
              </a:lnSpc>
              <a:buSzPts val="1343"/>
            </a:pPr>
            <a:r>
              <a:rPr lang="en-GB" sz="1733" b="0" i="0" u="none" strike="noStrike" cap="non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r>
              <a:rPr lang="en-GB" sz="1400">
                <a:solidFill>
                  <a:srgbClr val="1A73E8"/>
                </a:solidFill>
                <a:latin typeface="Manrope"/>
              </a:rPr>
              <a:t> 4</a:t>
            </a:r>
            <a:endParaRPr sz="1791" b="0" i="0" u="none" strike="noStrike" cap="non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95317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0" y="548640"/>
            <a:ext cx="4023360" cy="1828800"/>
          </a:xfrm>
          <a:prstGeom prst="roundRect">
            <a:avLst/>
          </a:prstGeom>
          <a:solidFill>
            <a:srgbClr val="0F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26880" y="1920240"/>
            <a:ext cx="2926080" cy="4389120"/>
          </a:xfrm>
          <a:prstGeom prst="roundRect">
            <a:avLst/>
          </a:prstGeom>
          <a:solidFill>
            <a:srgbClr val="0A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80960" y="5212080"/>
            <a:ext cx="3840480" cy="1005840"/>
          </a:xfrm>
          <a:prstGeom prst="roundRect">
            <a:avLst/>
          </a:prstGeom>
          <a:solidFill>
            <a:srgbClr val="1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9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40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YOURSTORY   |   snowflake   |   CoCo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HACKATHON SUBMISSION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932688"/>
            <a:ext cx="2011680" cy="310896"/>
          </a:xfrm>
          <a:prstGeom prst="roundRect">
            <a:avLst/>
          </a:prstGeom>
          <a:solidFill>
            <a:srgbClr val="113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973836"/>
            <a:ext cx="2011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5C5F0"/>
                </a:solidFill>
                <a:latin typeface="Aptos"/>
              </a:rPr>
              <a:t>INSURANCE • CUSTOMER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17320"/>
            <a:ext cx="6949440" cy="12801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NEXUS 360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6583680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700" b="1">
                <a:solidFill>
                  <a:srgbClr val="25C5F0"/>
                </a:solidFill>
                <a:latin typeface="Aptos"/>
              </a:rPr>
              <a:t>From Customer Question
to Next Best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657600"/>
            <a:ext cx="65836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DDE7F2"/>
                </a:solidFill>
                <a:latin typeface="Aptos"/>
              </a:rPr>
              <a:t>A Snowflake-native Customer 360 that unifies policies, claims, payments and conversations — then turns the signal into an explainable, human-approved action.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366760" y="1234440"/>
            <a:ext cx="2606040" cy="2606040"/>
          </a:xfrm>
          <a:prstGeom prst="ellipse">
            <a:avLst/>
          </a:prstGeom>
          <a:solidFill>
            <a:srgbClr val="12529A"/>
          </a:solidFill>
          <a:ln w="25400">
            <a:solidFill>
              <a:srgbClr val="25C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1828800"/>
            <a:ext cx="20574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286000"/>
            <a:ext cx="205740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3400" b="1">
                <a:solidFill>
                  <a:srgbClr val="25C5F0"/>
                </a:solidFill>
                <a:latin typeface="Aptos"/>
              </a:rPr>
              <a:t>360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919472"/>
            <a:ext cx="2423160" cy="960120"/>
          </a:xfrm>
          <a:prstGeom prst="round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5065776"/>
            <a:ext cx="21488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25C5F0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5541264"/>
            <a:ext cx="2148840" cy="1831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Unify structured + unstructured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919472"/>
            <a:ext cx="2423160" cy="960120"/>
          </a:xfrm>
          <a:prstGeom prst="round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5065776"/>
            <a:ext cx="21488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25C5F0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541264"/>
            <a:ext cx="2148840" cy="18312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Detect customer moments &amp; health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61888" y="4919472"/>
            <a:ext cx="2423160" cy="960120"/>
          </a:xfrm>
          <a:prstGeom prst="round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48" y="5065776"/>
            <a:ext cx="21488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25C5F0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5541264"/>
            <a:ext cx="2148840" cy="1831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chemeClr val="bg1"/>
                </a:solidFill>
                <a:latin typeface="Aptos"/>
              </a:rPr>
              <a:t>Recommend evidence-backed action</a:t>
            </a:r>
            <a:endParaRPr lang="en-US" sz="950" b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586216" y="4919472"/>
            <a:ext cx="2423160" cy="960120"/>
          </a:xfrm>
          <a:prstGeom prst="roundRect">
            <a:avLst/>
          </a:prstGeom>
          <a:solidFill>
            <a:srgbClr val="12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23376" y="5065776"/>
            <a:ext cx="214884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25C5F0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5541264"/>
            <a:ext cx="2148840" cy="18312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0">
                <a:solidFill>
                  <a:schemeClr val="bg1"/>
                </a:solidFill>
                <a:latin typeface="Aptos"/>
              </a:rPr>
              <a:t>Close the loop with outcomes</a:t>
            </a:r>
            <a:endParaRPr lang="en-US" sz="950" b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4360" y="6556248"/>
            <a:ext cx="10972800" cy="10972"/>
          </a:xfrm>
          <a:prstGeom prst="rect">
            <a:avLst/>
          </a:prstGeom>
          <a:solidFill>
            <a:srgbClr val="32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1BE"/>
                </a:solidFill>
                <a:latin typeface="Aptos"/>
              </a:rPr>
              <a:t>NEXUS 360  •  Insurance Customer Intelligence &amp; Next Best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7453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21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YOURSTORY   |   snowflake   |  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01 •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61B"/>
                </a:solidFill>
                <a:latin typeface="Aptos Display"/>
              </a:rPr>
              <a:t>The problem: insurers have the data — but not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2529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5"/>
                </a:solidFill>
                <a:latin typeface="Aptos"/>
              </a:rPr>
              <a:t>The customer story is fragmented across systems, while the most valuable signals are buried in conversations.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074920" cy="3566160"/>
          </a:xfrm>
          <a:prstGeom prst="roundRect">
            <a:avLst/>
          </a:prstGeom>
          <a:solidFill>
            <a:srgbClr val="FDEDEE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0292" cy="3566160"/>
          </a:xfrm>
          <a:prstGeom prst="rect">
            <a:avLst/>
          </a:prstGeom>
          <a:solidFill>
            <a:srgbClr val="D2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47548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>
                <a:solidFill>
                  <a:srgbClr val="12161B"/>
                </a:solidFill>
                <a:latin typeface="Aptos"/>
              </a:rPr>
              <a:t>Today: fragmented customer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59152"/>
            <a:ext cx="4754880" cy="29443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232B34"/>
                </a:solidFill>
                <a:latin typeface="Aptos"/>
              </a:rPr>
              <a:t>• Policy, claims, payments and renewal data live in separate workflows
• Calls, emails, notes and complaints contain the “why” — but are hard to operationalize
• Teams spend time searching, stitching context and deciding what to do
• Generic retention or cross-sell actions can arrive at the wrong moment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810512"/>
            <a:ext cx="5212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>
                <a:solidFill>
                  <a:srgbClr val="12161B"/>
                </a:solidFill>
                <a:latin typeface="Aptos"/>
              </a:rPr>
              <a:t>A real customer moment</a:t>
            </a:r>
          </a:p>
        </p:txBody>
      </p:sp>
      <p:sp>
        <p:nvSpPr>
          <p:cNvPr id="13" name="Oval 12"/>
          <p:cNvSpPr/>
          <p:nvPr/>
        </p:nvSpPr>
        <p:spPr>
          <a:xfrm>
            <a:off x="6144768" y="2331720"/>
            <a:ext cx="530352" cy="530352"/>
          </a:xfrm>
          <a:prstGeom prst="ellipse">
            <a:avLst/>
          </a:prstGeom>
          <a:solidFill>
            <a:srgbClr val="D23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2459736"/>
            <a:ext cx="53035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2596896"/>
            <a:ext cx="722376" cy="0"/>
          </a:xfrm>
          <a:prstGeom prst="line">
            <a:avLst/>
          </a:prstGeom>
          <a:ln w="19050">
            <a:solidFill>
              <a:srgbClr val="B9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5040" y="2990087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1">
                <a:solidFill>
                  <a:srgbClr val="D23E46"/>
                </a:solidFill>
                <a:latin typeface="Aptos"/>
              </a:rPr>
              <a:t>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3273552"/>
            <a:ext cx="1143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0">
                <a:solidFill>
                  <a:srgbClr val="232B34"/>
                </a:solidFill>
                <a:latin typeface="Aptos"/>
              </a:rPr>
              <a:t>27 days open</a:t>
            </a:r>
          </a:p>
        </p:txBody>
      </p:sp>
      <p:sp>
        <p:nvSpPr>
          <p:cNvPr id="18" name="Oval 17"/>
          <p:cNvSpPr/>
          <p:nvPr/>
        </p:nvSpPr>
        <p:spPr>
          <a:xfrm>
            <a:off x="7470648" y="2331720"/>
            <a:ext cx="530352" cy="530352"/>
          </a:xfrm>
          <a:prstGeom prst="ellipse">
            <a:avLst/>
          </a:prstGeom>
          <a:solidFill>
            <a:srgbClr val="D6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0648" y="2459736"/>
            <a:ext cx="53035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01000" y="2596896"/>
            <a:ext cx="722376" cy="0"/>
          </a:xfrm>
          <a:prstGeom prst="line">
            <a:avLst/>
          </a:prstGeom>
          <a:ln w="19050">
            <a:solidFill>
              <a:srgbClr val="B9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60920" y="2990087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1">
                <a:solidFill>
                  <a:srgbClr val="D68E1A"/>
                </a:solidFill>
                <a:latin typeface="Aptos"/>
              </a:rPr>
              <a:t>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273552"/>
            <a:ext cx="1143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0">
                <a:solidFill>
                  <a:srgbClr val="232B34"/>
                </a:solidFill>
                <a:latin typeface="Aptos"/>
              </a:rPr>
              <a:t>Negative sentiment</a:t>
            </a:r>
          </a:p>
        </p:txBody>
      </p:sp>
      <p:sp>
        <p:nvSpPr>
          <p:cNvPr id="23" name="Oval 22"/>
          <p:cNvSpPr/>
          <p:nvPr/>
        </p:nvSpPr>
        <p:spPr>
          <a:xfrm>
            <a:off x="8796528" y="2331720"/>
            <a:ext cx="530352" cy="530352"/>
          </a:xfrm>
          <a:prstGeom prst="ellipse">
            <a:avLst/>
          </a:prstGeom>
          <a:solidFill>
            <a:srgbClr val="6E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96528" y="2459736"/>
            <a:ext cx="53035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596896"/>
            <a:ext cx="722375" cy="0"/>
          </a:xfrm>
          <a:prstGeom prst="line">
            <a:avLst/>
          </a:prstGeom>
          <a:ln w="19050">
            <a:solidFill>
              <a:srgbClr val="B9C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686800" y="2990087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1">
                <a:solidFill>
                  <a:srgbClr val="6E52B4"/>
                </a:solidFill>
                <a:latin typeface="Aptos"/>
              </a:rPr>
              <a:t>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3273552"/>
            <a:ext cx="1143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0">
                <a:solidFill>
                  <a:srgbClr val="232B34"/>
                </a:solidFill>
                <a:latin typeface="Aptos"/>
              </a:rPr>
              <a:t>Competitor mentioned</a:t>
            </a:r>
          </a:p>
        </p:txBody>
      </p:sp>
      <p:sp>
        <p:nvSpPr>
          <p:cNvPr id="28" name="Oval 27"/>
          <p:cNvSpPr/>
          <p:nvPr/>
        </p:nvSpPr>
        <p:spPr>
          <a:xfrm>
            <a:off x="10122408" y="2331720"/>
            <a:ext cx="530352" cy="530352"/>
          </a:xfrm>
          <a:prstGeom prst="ellipse">
            <a:avLst/>
          </a:prstGeom>
          <a:solidFill>
            <a:srgbClr val="1C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22408" y="2459736"/>
            <a:ext cx="530352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990087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1">
                <a:solidFill>
                  <a:srgbClr val="1C6FE8"/>
                </a:solidFill>
                <a:latin typeface="Aptos"/>
              </a:rPr>
              <a:t>RENEWAL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3273552"/>
            <a:ext cx="11430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850" b="0">
                <a:solidFill>
                  <a:srgbClr val="232B34"/>
                </a:solidFill>
                <a:latin typeface="Aptos"/>
              </a:rPr>
              <a:t>18 days away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3794760"/>
            <a:ext cx="5212080" cy="1600200"/>
          </a:xfrm>
          <a:prstGeom prst="roundRect">
            <a:avLst/>
          </a:prstGeom>
          <a:solidFill>
            <a:srgbClr val="E8F3FF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80760" y="3794760"/>
            <a:ext cx="50292" cy="1600200"/>
          </a:xfrm>
          <a:prstGeom prst="rect">
            <a:avLst/>
          </a:prstGeom>
          <a:solidFill>
            <a:srgbClr val="1C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45352" y="3931920"/>
            <a:ext cx="48920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12161B"/>
                </a:solidFill>
                <a:latin typeface="Aptos"/>
              </a:rPr>
              <a:t>NEXUS detects the moment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4325112"/>
            <a:ext cx="4892040" cy="9784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HIGH-VALUE CUSTOMER + CLAIM FRICTION + NEGATIVE SENTIMENT + COMPETITOR SIGNAL + RENEWAL RISK
→ Critical retention / service-recovery moment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7150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>
                <a:solidFill>
                  <a:srgbClr val="5B6775"/>
                </a:solidFill>
                <a:latin typeface="Aptos"/>
              </a:rPr>
              <a:t>Primary users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705856"/>
            <a:ext cx="1645920" cy="310896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28800" y="5747004"/>
            <a:ext cx="1645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1C6FE8"/>
                </a:solidFill>
                <a:latin typeface="Aptos"/>
              </a:rPr>
              <a:t>Customer Service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80" y="5705856"/>
            <a:ext cx="1325880" cy="310896"/>
          </a:xfrm>
          <a:prstGeom prst="roundRect">
            <a:avLst/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11880" y="5747004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1B9668"/>
                </a:solidFill>
                <a:latin typeface="Aptos"/>
              </a:rPr>
              <a:t>Claims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5705856"/>
            <a:ext cx="1325880" cy="310896"/>
          </a:xfrm>
          <a:prstGeom prst="roundRect">
            <a:avLst/>
          </a:prstGeom>
          <a:solidFill>
            <a:srgbClr val="FFF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74920" y="5747004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D68E1A"/>
                </a:solidFill>
                <a:latin typeface="Aptos"/>
              </a:rPr>
              <a:t>Retention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5705856"/>
            <a:ext cx="1691640" cy="310896"/>
          </a:xfrm>
          <a:prstGeom prst="roundRect">
            <a:avLst/>
          </a:prstGeom>
          <a:solidFill>
            <a:srgbClr val="F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5747004"/>
            <a:ext cx="169164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6E52B4"/>
                </a:solidFill>
                <a:latin typeface="Aptos"/>
              </a:rPr>
              <a:t>Relationship Mgmt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94192" y="5705856"/>
            <a:ext cx="1508760" cy="310896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94192" y="5747004"/>
            <a:ext cx="15087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32B34"/>
                </a:solidFill>
                <a:latin typeface="Aptos"/>
              </a:rPr>
              <a:t>Managers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556248"/>
            <a:ext cx="10972800" cy="10972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8996"/>
                </a:solidFill>
                <a:latin typeface="Aptos"/>
              </a:rPr>
              <a:t>NEXUS 360  •  Insurance Customer Intelligence &amp; Next Best Action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657453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6FE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21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YOURSTORY   |   snowflake   |  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02 •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61B"/>
                </a:solidFill>
                <a:latin typeface="Aptos Display"/>
              </a:rPr>
              <a:t>One experience: KNOW → UNDERSTAND → DECIDE →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2529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5"/>
                </a:solidFill>
                <a:latin typeface="Aptos"/>
              </a:rPr>
              <a:t>NEXUS 360 moves from a customer question to a recommended action with evidence, guardrails and human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2331720" cy="2423160"/>
          </a:xfrm>
          <a:prstGeom prst="roundRect">
            <a:avLst/>
          </a:prstGeom>
          <a:solidFill>
            <a:srgbClr val="E8F3FF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874519"/>
            <a:ext cx="50292" cy="2423160"/>
          </a:xfrm>
          <a:prstGeom prst="rect">
            <a:avLst/>
          </a:prstGeom>
          <a:solidFill>
            <a:srgbClr val="1C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011679"/>
            <a:ext cx="201167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12161B"/>
                </a:solidFill>
                <a:latin typeface="Aptos"/>
              </a:rPr>
              <a:t>01  KNOW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404872"/>
            <a:ext cx="2011679" cy="18013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19" b="0">
                <a:solidFill>
                  <a:srgbClr val="232B34"/>
                </a:solidFill>
                <a:latin typeface="Aptos"/>
              </a:rPr>
              <a:t>Customer 360
Policy • Claims • Payments • Renewal • Interactions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0087" y="3063240"/>
            <a:ext cx="438913" cy="0"/>
          </a:xfrm>
          <a:prstGeom prst="line">
            <a:avLst/>
          </a:prstGeom>
          <a:ln w="25400">
            <a:solidFill>
              <a:srgbClr val="96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20440" y="1874519"/>
            <a:ext cx="2331720" cy="2423160"/>
          </a:xfrm>
          <a:prstGeom prst="roundRect">
            <a:avLst/>
          </a:prstGeom>
          <a:solidFill>
            <a:srgbClr val="F3EFFC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874519"/>
            <a:ext cx="50292" cy="2423160"/>
          </a:xfrm>
          <a:prstGeom prst="rect">
            <a:avLst/>
          </a:prstGeom>
          <a:solidFill>
            <a:srgbClr val="6E5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2011679"/>
            <a:ext cx="201167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12161B"/>
                </a:solidFill>
                <a:latin typeface="Aptos"/>
              </a:rPr>
              <a:t>02  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404872"/>
            <a:ext cx="2011679" cy="18013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19" b="0">
                <a:solidFill>
                  <a:srgbClr val="232B34"/>
                </a:solidFill>
                <a:latin typeface="Aptos"/>
              </a:rPr>
              <a:t>Customer Intelligence
Sentiment • Intent • Customer moments •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52160" y="3063240"/>
            <a:ext cx="438912" cy="0"/>
          </a:xfrm>
          <a:prstGeom prst="line">
            <a:avLst/>
          </a:prstGeom>
          <a:ln w="25400">
            <a:solidFill>
              <a:srgbClr val="96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82512" y="1874519"/>
            <a:ext cx="2331720" cy="2423160"/>
          </a:xfrm>
          <a:prstGeom prst="roundRect">
            <a:avLst/>
          </a:prstGeom>
          <a:solidFill>
            <a:srgbClr val="FFF6E1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2512" y="1874519"/>
            <a:ext cx="50292" cy="2423160"/>
          </a:xfrm>
          <a:prstGeom prst="rect">
            <a:avLst/>
          </a:prstGeom>
          <a:solidFill>
            <a:srgbClr val="D6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2011679"/>
            <a:ext cx="201167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12161B"/>
                </a:solidFill>
                <a:latin typeface="Aptos"/>
              </a:rPr>
              <a:t>03 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404872"/>
            <a:ext cx="2011679" cy="18013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19" b="0">
                <a:solidFill>
                  <a:srgbClr val="232B34"/>
                </a:solidFill>
                <a:latin typeface="Aptos"/>
              </a:rPr>
              <a:t>Context-aware NBA
Risk • Value • Rules • Suppression • Confidence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4232" y="3063240"/>
            <a:ext cx="438912" cy="0"/>
          </a:xfrm>
          <a:prstGeom prst="line">
            <a:avLst/>
          </a:prstGeom>
          <a:ln w="25400">
            <a:solidFill>
              <a:srgbClr val="96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44584" y="1874519"/>
            <a:ext cx="2331720" cy="2423160"/>
          </a:xfrm>
          <a:prstGeom prst="roundRect">
            <a:avLst/>
          </a:prstGeom>
          <a:solidFill>
            <a:srgbClr val="E8F9F2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44584" y="1874519"/>
            <a:ext cx="50292" cy="2423160"/>
          </a:xfrm>
          <a:prstGeom prst="rect">
            <a:avLst/>
          </a:prstGeom>
          <a:solidFill>
            <a:srgbClr val="1B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2011679"/>
            <a:ext cx="2011679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12161B"/>
                </a:solidFill>
                <a:latin typeface="Aptos"/>
              </a:rPr>
              <a:t>04 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2404872"/>
            <a:ext cx="2011679" cy="18013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19" b="0">
                <a:solidFill>
                  <a:srgbClr val="232B34"/>
                </a:solidFill>
                <a:latin typeface="Aptos"/>
              </a:rPr>
              <a:t>Employee Copilot
Approve • Modify • Escalate • Communicate • Track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5394960" cy="1234440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4617720"/>
            <a:ext cx="50292" cy="1234440"/>
          </a:xfrm>
          <a:prstGeom prst="rect">
            <a:avLst/>
          </a:prstGeom>
          <a:solidFill>
            <a:srgbClr val="09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754880"/>
            <a:ext cx="50749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1">
                <a:solidFill>
                  <a:srgbClr val="12161B"/>
                </a:solidFill>
                <a:latin typeface="Aptos"/>
              </a:rPr>
              <a:t>What makes it enterprise-grade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5148072"/>
            <a:ext cx="5074920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Evidence-backed recommendations • Human-in-the-loop • Action audit trail • No cross-sell during active service friction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617720"/>
            <a:ext cx="5321808" cy="1234440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4617720"/>
            <a:ext cx="50292" cy="1234440"/>
          </a:xfrm>
          <a:prstGeom prst="rect">
            <a:avLst/>
          </a:prstGeom>
          <a:solidFill>
            <a:srgbClr val="1C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1" y="4754880"/>
            <a:ext cx="5001768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1">
                <a:solidFill>
                  <a:srgbClr val="12161B"/>
                </a:solidFill>
                <a:latin typeface="Aptos"/>
              </a:rPr>
              <a:t>What makes it Snowflake-native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1" y="5148072"/>
            <a:ext cx="5001768" cy="6126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Structured analytics + unstructured search + Cortex Agent orchestration + Streamlit-in-Snowflake + Snowpark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56248"/>
            <a:ext cx="10972800" cy="10972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179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8996"/>
                </a:solidFill>
                <a:latin typeface="Aptos"/>
              </a:rPr>
              <a:t>NEXUS 360  •  Insurance Customer Intelligence &amp; Next Best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7453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6FE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21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YOURSTORY   |   snowflake   |  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03 •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8368"/>
            <a:ext cx="99669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800" b="1">
                <a:solidFill>
                  <a:srgbClr val="12161B"/>
                </a:solidFill>
                <a:latin typeface="Aptos"/>
              </a:rPr>
              <a:t>Enterprise architecture &amp; data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1069848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Aptos"/>
              </a:rPr>
              <a:t>Customer event → Snowflake → Cortex AI → Customer 360 → Decision Engine → Human-approved action → Outcome</a:t>
            </a:r>
          </a:p>
        </p:txBody>
      </p:sp>
      <p:pic>
        <p:nvPicPr>
          <p:cNvPr id="8" name="Picture 7" descr="a_clean_infographic_architecture_diagram_on_a_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72768"/>
            <a:ext cx="10972800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6053328"/>
            <a:ext cx="1097280" cy="310896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6094476"/>
            <a:ext cx="1097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1C6FE8"/>
                </a:solidFill>
                <a:latin typeface="Aptos"/>
              </a:rPr>
              <a:t>CoCo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6053328"/>
            <a:ext cx="1325880" cy="310896"/>
          </a:xfrm>
          <a:prstGeom prst="roundRect">
            <a:avLst/>
          </a:prstGeom>
          <a:solidFill>
            <a:srgbClr val="F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81160" y="6094476"/>
            <a:ext cx="13258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6E52B4"/>
                </a:solidFill>
                <a:latin typeface="Aptos"/>
              </a:rPr>
              <a:t>Cortex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52760" y="6053328"/>
            <a:ext cx="868680" cy="310896"/>
          </a:xfrm>
          <a:prstGeom prst="roundRect">
            <a:avLst/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52760" y="6094476"/>
            <a:ext cx="8686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1B9668"/>
                </a:solidFill>
                <a:latin typeface="Aptos"/>
              </a:rPr>
              <a:t>NBA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556248"/>
            <a:ext cx="10972800" cy="10972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8996"/>
                </a:solidFill>
                <a:latin typeface="Aptos"/>
              </a:rPr>
              <a:t>NEXUS 360  •  Insurance Customer Intelligence &amp; Next Best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57453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6FE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121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YOURSTORY   |   snowflake   |  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04 •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161B"/>
                </a:solidFill>
                <a:latin typeface="Aptos Display"/>
              </a:rPr>
              <a:t>Impact: turn fragmented signals into measurable business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2529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B6775"/>
                </a:solidFill>
                <a:latin typeface="Aptos"/>
              </a:rPr>
              <a:t>The demo is designed around operational metrics — not just an AI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514600" cy="1170432"/>
          </a:xfrm>
          <a:prstGeom prst="round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C6FE8"/>
                </a:solidFill>
                <a:latin typeface="Aptos"/>
              </a:rPr>
              <a:t>↓ Search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5059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232B34"/>
                </a:solidFill>
                <a:latin typeface="Aptos"/>
              </a:rPr>
              <a:t>Faster access to customer context for frontline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514600" cy="1170432"/>
          </a:xfrm>
          <a:prstGeom prst="roundRect">
            <a:avLst/>
          </a:prstGeom>
          <a:solidFill>
            <a:srgbClr val="E8F9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975104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B9668"/>
                </a:solidFill>
                <a:latin typeface="Aptos"/>
              </a:rPr>
              <a:t>↑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5059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232B34"/>
                </a:solidFill>
                <a:latin typeface="Aptos"/>
              </a:rPr>
              <a:t>Earlier intervention on high-value churn moments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828800"/>
            <a:ext cx="2514600" cy="1170432"/>
          </a:xfrm>
          <a:prstGeom prst="roundRect">
            <a:avLst/>
          </a:prstGeom>
          <a:solidFill>
            <a:srgbClr val="FFF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2707" y="1975104"/>
            <a:ext cx="2570852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D68E1A"/>
                </a:solidFill>
                <a:latin typeface="Aptos"/>
              </a:rPr>
              <a:t>↓ Resolution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245059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232B34"/>
                </a:solidFill>
                <a:latin typeface="Aptos"/>
              </a:rPr>
              <a:t>Prioritize claims/service recovery with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95944" y="1828800"/>
            <a:ext cx="2514600" cy="1170432"/>
          </a:xfrm>
          <a:prstGeom prst="roundRect">
            <a:avLst/>
          </a:prstGeom>
          <a:solidFill>
            <a:srgbClr val="F3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33104" y="1975104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6E52B4"/>
                </a:solidFill>
                <a:latin typeface="Aptos"/>
              </a:rPr>
              <a:t>↑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45059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232B34"/>
                </a:solidFill>
                <a:latin typeface="Aptos"/>
              </a:rPr>
              <a:t>Cross-sell only when customer context is healthy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01568"/>
            <a:ext cx="29260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1">
                <a:solidFill>
                  <a:srgbClr val="12161B"/>
                </a:solidFill>
                <a:latin typeface="Aptos"/>
              </a:rPr>
              <a:t>Closed-loop measurement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3291840" cy="1417320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50292" cy="1417320"/>
          </a:xfrm>
          <a:prstGeom prst="rect">
            <a:avLst/>
          </a:prstGeom>
          <a:solidFill>
            <a:srgbClr val="1C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023360"/>
            <a:ext cx="2971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12161B"/>
                </a:solidFill>
                <a:latin typeface="Aptos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416552"/>
            <a:ext cx="2971800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NBA created
Evidence + confidence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77639" y="4590288"/>
            <a:ext cx="201169" cy="0"/>
          </a:xfrm>
          <a:prstGeom prst="line">
            <a:avLst/>
          </a:prstGeom>
          <a:ln w="2286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43400" y="3886200"/>
            <a:ext cx="3291840" cy="1417320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886200"/>
            <a:ext cx="50292" cy="1417320"/>
          </a:xfrm>
          <a:prstGeom prst="rect">
            <a:avLst/>
          </a:prstGeom>
          <a:solidFill>
            <a:srgbClr val="D68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4023360"/>
            <a:ext cx="2971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12161B"/>
                </a:solidFill>
                <a:latin typeface="Aptos"/>
              </a:rPr>
              <a:t>Approval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16552"/>
            <a:ext cx="2971800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Employee action
Approve / modify / dismiss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35240" y="4590288"/>
            <a:ext cx="201168" cy="0"/>
          </a:xfrm>
          <a:prstGeom prst="line">
            <a:avLst/>
          </a:prstGeom>
          <a:ln w="22860">
            <a:solidFill>
              <a:srgbClr val="A0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01000" y="3886200"/>
            <a:ext cx="3291840" cy="1417320"/>
          </a:xfrm>
          <a:prstGeom prst="roundRect">
            <a:avLst/>
          </a:prstGeom>
          <a:solidFill>
            <a:srgbClr val="F4F8FC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01000" y="3886200"/>
            <a:ext cx="50292" cy="1417320"/>
          </a:xfrm>
          <a:prstGeom prst="rect">
            <a:avLst/>
          </a:prstGeom>
          <a:solidFill>
            <a:srgbClr val="1B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65592" y="4023360"/>
            <a:ext cx="29718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12161B"/>
                </a:solidFill>
                <a:latin typeface="Aptos"/>
              </a:rPr>
              <a:t>Outcome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4416552"/>
            <a:ext cx="2971800" cy="7955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232B34"/>
                </a:solidFill>
                <a:latin typeface="Aptos"/>
              </a:rPr>
              <a:t>Customer response
Health &amp; sentiment shift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559552"/>
            <a:ext cx="10881360" cy="685800"/>
          </a:xfrm>
          <a:prstGeom prst="roundRect">
            <a:avLst/>
          </a:prstGeom>
          <a:solidFill>
            <a:srgbClr val="09234A"/>
          </a:solidFill>
          <a:ln w="8890">
            <a:solidFill>
              <a:srgbClr val="DA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5800" y="5559552"/>
            <a:ext cx="50292" cy="685800"/>
          </a:xfrm>
          <a:prstGeom prst="rect">
            <a:avLst/>
          </a:prstGeom>
          <a:solidFill>
            <a:srgbClr val="25C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" y="5696712"/>
            <a:ext cx="10561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50" b="1">
                <a:solidFill>
                  <a:srgbClr val="12161B"/>
                </a:solidFill>
                <a:latin typeface="Aptos"/>
              </a:rPr>
              <a:t>Scale beyond the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" y="6089904"/>
            <a:ext cx="10561320" cy="6400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232B34"/>
                </a:solidFill>
                <a:latin typeface="Aptos"/>
              </a:rPr>
              <a:t>Insurance first; reusable pattern for lending and other financial-services journeys without changing the core Customer Intelligence + Next Best Action architecture.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" y="5797296"/>
            <a:ext cx="104698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Insurance first; reusable pattern for lending and other financial-services journeys without changing the core Customer Intelligence + Next Best Action architecture.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6556248"/>
            <a:ext cx="10972800" cy="10972"/>
          </a:xfrm>
          <a:prstGeom prst="rect">
            <a:avLst/>
          </a:prstGeom>
          <a:solidFill>
            <a:srgbClr val="DA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D8996"/>
                </a:solidFill>
                <a:latin typeface="Aptos"/>
              </a:rPr>
              <a:t>NEXUS 360  •  Insurance Customer Intelligence &amp; Next Best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35640" y="657453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C6FE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092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64008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Aptos"/>
              </a:rPr>
              <a:t>YOURSTORY   |   snowflake   |   CoCo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008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05 • DEMO &amp;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The 5-minute judge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25296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ECDDC"/>
                </a:solidFill>
                <a:latin typeface="Aptos"/>
              </a:rPr>
              <a:t>Show the business problem, prove the AI reasoning, then demonstrate the closed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02920" cy="310896"/>
          </a:xfrm>
          <a:prstGeom prst="roundRect">
            <a:avLst/>
          </a:prstGeom>
          <a:solidFill>
            <a:srgbClr val="14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69948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5C5F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810512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25C5F0"/>
                </a:solidFill>
                <a:latin typeface="Apto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01368"/>
            <a:ext cx="49377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“Who should I call today?”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01368"/>
            <a:ext cx="4023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CAD7E5"/>
                </a:solidFill>
                <a:latin typeface="Aptos"/>
              </a:rPr>
              <a:t>Portfolio prioritization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240280"/>
            <a:ext cx="10972" cy="347472"/>
          </a:xfrm>
          <a:prstGeom prst="rect">
            <a:avLst/>
          </a:prstGeom>
          <a:solidFill>
            <a:srgbClr val="2F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606040"/>
            <a:ext cx="502920" cy="310896"/>
          </a:xfrm>
          <a:prstGeom prst="roundRect">
            <a:avLst/>
          </a:prstGeom>
          <a:solidFill>
            <a:srgbClr val="14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647188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5C5F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587752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25C5F0"/>
                </a:solidFill>
                <a:latin typeface="Aptos"/>
              </a:rPr>
              <a:t>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578608"/>
            <a:ext cx="49377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Select a high-risk 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78608"/>
            <a:ext cx="4023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CAD7E5"/>
                </a:solidFill>
                <a:latin typeface="Aptos"/>
              </a:rPr>
              <a:t>Customer 360 + timeline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017520"/>
            <a:ext cx="10972" cy="347472"/>
          </a:xfrm>
          <a:prstGeom prst="rect">
            <a:avLst/>
          </a:prstGeom>
          <a:solidFill>
            <a:srgbClr val="2F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383280"/>
            <a:ext cx="502920" cy="310896"/>
          </a:xfrm>
          <a:prstGeom prst="roundRect">
            <a:avLst/>
          </a:prstGeom>
          <a:solidFill>
            <a:srgbClr val="14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424428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5C5F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364992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25C5F0"/>
                </a:solidFill>
                <a:latin typeface="Aptos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355848"/>
            <a:ext cx="49377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“Why is Rajesh at risk?”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355848"/>
            <a:ext cx="4023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CAD7E5"/>
                </a:solidFill>
                <a:latin typeface="Aptos"/>
              </a:rPr>
              <a:t>Evidence from claims + calls + renewal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794760"/>
            <a:ext cx="10972" cy="347472"/>
          </a:xfrm>
          <a:prstGeom prst="rect">
            <a:avLst/>
          </a:prstGeom>
          <a:solidFill>
            <a:srgbClr val="2F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4160520"/>
            <a:ext cx="502920" cy="310896"/>
          </a:xfrm>
          <a:prstGeom prst="roundRect">
            <a:avLst/>
          </a:prstGeom>
          <a:solidFill>
            <a:srgbClr val="14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201668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5C5F0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42232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25C5F0"/>
                </a:solidFill>
                <a:latin typeface="Aptos"/>
              </a:rPr>
              <a:t>DECIDE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133087"/>
            <a:ext cx="49377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“What should we do?”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133087"/>
            <a:ext cx="4023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CAD7E5"/>
                </a:solidFill>
                <a:latin typeface="Aptos"/>
              </a:rPr>
              <a:t>Claims escalation + retention; cross-sell suppressed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572000"/>
            <a:ext cx="10972" cy="347472"/>
          </a:xfrm>
          <a:prstGeom prst="rect">
            <a:avLst/>
          </a:prstGeom>
          <a:solidFill>
            <a:srgbClr val="2F6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85800" y="4937759"/>
            <a:ext cx="502920" cy="310896"/>
          </a:xfrm>
          <a:prstGeom prst="roundRect">
            <a:avLst/>
          </a:prstGeom>
          <a:solidFill>
            <a:srgbClr val="144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5800" y="4978907"/>
            <a:ext cx="5029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900" b="1">
                <a:solidFill>
                  <a:srgbClr val="25C5F0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4919472"/>
            <a:ext cx="10058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25C5F0"/>
                </a:solidFill>
                <a:latin typeface="Aptos"/>
              </a:rPr>
              <a:t>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10327"/>
            <a:ext cx="493776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Approve → simulate new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10327"/>
            <a:ext cx="40233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0">
                <a:solidFill>
                  <a:srgbClr val="CAD7E5"/>
                </a:solidFill>
                <a:latin typeface="Aptos"/>
              </a:rPr>
              <a:t>Health/risk changes in real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806440"/>
            <a:ext cx="10881360" cy="475488"/>
          </a:xfrm>
          <a:prstGeom prst="roundRect">
            <a:avLst/>
          </a:prstGeom>
          <a:solidFill>
            <a:srgbClr val="123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925312"/>
            <a:ext cx="1051560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600" b="1">
                <a:solidFill>
                  <a:srgbClr val="25C5F0"/>
                </a:solidFill>
                <a:latin typeface="Aptos"/>
              </a:rPr>
              <a:t>KNOW → UNDERSTAND → DECIDE → ACT → LEARN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56248"/>
            <a:ext cx="10972800" cy="10972"/>
          </a:xfrm>
          <a:prstGeom prst="rect">
            <a:avLst/>
          </a:prstGeom>
          <a:solidFill>
            <a:srgbClr val="324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6601968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5B1BE"/>
                </a:solidFill>
                <a:latin typeface="Aptos"/>
              </a:rPr>
              <a:t>NEXUS 360  •  Insurance Customer Intelligence &amp; Next Best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35640" y="6574536"/>
            <a:ext cx="685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5C5F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2024" cy="6858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050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</cp:revision>
  <dcterms:created xsi:type="dcterms:W3CDTF">2013-01-27T09:14:16Z</dcterms:created>
  <dcterms:modified xsi:type="dcterms:W3CDTF">2026-08-27T09:46:15Z</dcterms:modified>
  <cp:category/>
</cp:coreProperties>
</file>